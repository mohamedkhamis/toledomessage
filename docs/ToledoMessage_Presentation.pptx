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1A"/>
            </a:gs>
            <a:gs pos="100000">
              <a:srgbClr val="1A1A2E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457200" y="-457200"/>
            <a:ext cx="2743200" cy="274320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5029200"/>
            <a:ext cx="2743200" cy="2743200"/>
          </a:xfrm>
          <a:prstGeom prst="ellipse">
            <a:avLst/>
          </a:prstGeom>
          <a:solidFill>
            <a:srgbClr val="3A7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394960" y="914400"/>
            <a:ext cx="1371600" cy="109728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400"/>
              <a:t>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Segoe UI Semibold"/>
              </a:defRPr>
            </a:pPr>
            <a:r>
              <a:t>ToledoMessage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9184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42A5F5"/>
                </a:solidFill>
                <a:latin typeface="Segoe UI"/>
              </a:defRPr>
            </a:pPr>
            <a:r>
              <a:t>Post-Quantum Secure Messaging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1148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E9E9E"/>
                </a:solidFill>
                <a:latin typeface="Segoe UI"/>
              </a:defRPr>
            </a:pPr>
            <a:r>
              <a:t>Hybrid X3DH Key Agreement  |  Double Ratchet Protocol  |  ML-KEM-768 + X25519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49527" y="5120640"/>
            <a:ext cx="1463040" cy="411480"/>
          </a:xfrm>
          <a:prstGeom prst="round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.NET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95447" y="5120640"/>
            <a:ext cx="1463040" cy="41148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Blazor WASM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41367" y="5120640"/>
            <a:ext cx="1463040" cy="411480"/>
          </a:xfrm>
          <a:prstGeom prst="roundRect">
            <a:avLst/>
          </a:prstGeom>
          <a:solidFill>
            <a:srgbClr val="008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SignalR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7287" y="5120640"/>
            <a:ext cx="1463040" cy="41148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BouncyCastle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33207" y="5120640"/>
            <a:ext cx="1463040" cy="41148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SQL Server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79127" y="5120640"/>
            <a:ext cx="1463040" cy="411480"/>
          </a:xfrm>
          <a:prstGeom prst="round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E2EE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E9E9E"/>
                </a:solidFill>
                <a:latin typeface="Segoe UI"/>
              </a:defRPr>
            </a:pPr>
            <a:r>
              <a:t>Mohamed Khamis  |  University of Toledo  |  February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E9E9E"/>
                </a:solidFill>
                <a:latin typeface="Segoe UI"/>
              </a:defRPr>
            </a:pPr>
            <a:r>
              <a:t>1/18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Presentation Outline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743200" cy="36576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" y="1508760"/>
            <a:ext cx="320040" cy="32004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49961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Segoe UI"/>
              </a:defRPr>
            </a:pPr>
            <a:r>
              <a:t>Problem Statement &amp; Motivation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039112"/>
            <a:ext cx="320040" cy="320040"/>
          </a:xfrm>
          <a:prstGeom prst="ellipse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202996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99339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Segoe UI"/>
              </a:defRPr>
            </a:pPr>
            <a:r>
              <a:t>System Architecture Overview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2569464"/>
            <a:ext cx="320040" cy="320040"/>
          </a:xfrm>
          <a:prstGeom prst="ellipse">
            <a:avLst/>
          </a:prstGeom>
          <a:solidFill>
            <a:srgbClr val="008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256032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523744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Segoe UI"/>
              </a:defRPr>
            </a:pPr>
            <a:r>
              <a:t>Cryptographic Model — X3DH Key Agreement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3099816"/>
            <a:ext cx="320040" cy="320040"/>
          </a:xfrm>
          <a:prstGeom prst="ellipse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309067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054096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Segoe UI"/>
              </a:defRPr>
            </a:pPr>
            <a:r>
              <a:t>Cryptographic Model — Double Ratchet Protocol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3630168"/>
            <a:ext cx="320040" cy="320040"/>
          </a:xfrm>
          <a:prstGeom prst="ellipse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" y="3621024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58444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Segoe UI"/>
              </a:defRPr>
            </a:pPr>
            <a:r>
              <a:t>Post-Quantum Resistance (ML-KEM-768)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4160520"/>
            <a:ext cx="320040" cy="32004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415137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114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Segoe UI"/>
              </a:defRPr>
            </a:pPr>
            <a:r>
              <a:t>Hybrid Signature Scheme (Ed25519 + ML-DSA-65)</a:t>
            </a:r>
          </a:p>
        </p:txBody>
      </p:sp>
      <p:sp>
        <p:nvSpPr>
          <p:cNvPr id="22" name="Oval 21"/>
          <p:cNvSpPr/>
          <p:nvPr/>
        </p:nvSpPr>
        <p:spPr>
          <a:xfrm>
            <a:off x="777240" y="4690872"/>
            <a:ext cx="320040" cy="320040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8" y="468172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64515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Segoe UI"/>
              </a:defRPr>
            </a:pPr>
            <a:r>
              <a:t>Message Encryption Pipeline (AES-256-GCM)</a:t>
            </a:r>
          </a:p>
        </p:txBody>
      </p:sp>
      <p:sp>
        <p:nvSpPr>
          <p:cNvPr id="25" name="Oval 24"/>
          <p:cNvSpPr/>
          <p:nvPr/>
        </p:nvSpPr>
        <p:spPr>
          <a:xfrm>
            <a:off x="777240" y="5221224"/>
            <a:ext cx="320040" cy="32004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52120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5175504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Segoe UI"/>
              </a:defRPr>
            </a:pPr>
            <a:r>
              <a:t>End-to-End Message Flow</a:t>
            </a:r>
          </a:p>
        </p:txBody>
      </p:sp>
      <p:sp>
        <p:nvSpPr>
          <p:cNvPr id="28" name="Oval 27"/>
          <p:cNvSpPr/>
          <p:nvPr/>
        </p:nvSpPr>
        <p:spPr>
          <a:xfrm>
            <a:off x="777240" y="5751576"/>
            <a:ext cx="320040" cy="320040"/>
          </a:xfrm>
          <a:prstGeom prst="ellipse">
            <a:avLst/>
          </a:prstGeom>
          <a:solidFill>
            <a:srgbClr val="008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5528" y="574243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5705856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Segoe UI"/>
              </a:defRPr>
            </a:pPr>
            <a:r>
              <a:t>Real-Time Communication (SignalR)</a:t>
            </a:r>
          </a:p>
        </p:txBody>
      </p:sp>
      <p:sp>
        <p:nvSpPr>
          <p:cNvPr id="31" name="Oval 30"/>
          <p:cNvSpPr/>
          <p:nvPr/>
        </p:nvSpPr>
        <p:spPr>
          <a:xfrm>
            <a:off x="6583680" y="1508760"/>
            <a:ext cx="320040" cy="320040"/>
          </a:xfrm>
          <a:prstGeom prst="ellipse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01968" y="149961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Segoe UI"/>
              </a:defRPr>
            </a:pPr>
            <a:r>
              <a:t>Client-Side Security (Blazor WASM + IndexedDB)</a:t>
            </a:r>
          </a:p>
        </p:txBody>
      </p:sp>
      <p:sp>
        <p:nvSpPr>
          <p:cNvPr id="34" name="Oval 33"/>
          <p:cNvSpPr/>
          <p:nvPr/>
        </p:nvSpPr>
        <p:spPr>
          <a:xfrm>
            <a:off x="6583680" y="2039112"/>
            <a:ext cx="320040" cy="320040"/>
          </a:xfrm>
          <a:prstGeom prst="ellipse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01968" y="202996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199339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Segoe UI"/>
              </a:defRPr>
            </a:pPr>
            <a:r>
              <a:t>Database &amp; Entity Model</a:t>
            </a:r>
          </a:p>
        </p:txBody>
      </p:sp>
      <p:sp>
        <p:nvSpPr>
          <p:cNvPr id="37" name="Oval 36"/>
          <p:cNvSpPr/>
          <p:nvPr/>
        </p:nvSpPr>
        <p:spPr>
          <a:xfrm>
            <a:off x="6583680" y="2569464"/>
            <a:ext cx="320040" cy="32004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01968" y="256032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86600" y="2523744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Segoe UI"/>
              </a:defRPr>
            </a:pPr>
            <a:r>
              <a:t>Safety Number Verification</a:t>
            </a:r>
          </a:p>
        </p:txBody>
      </p:sp>
      <p:sp>
        <p:nvSpPr>
          <p:cNvPr id="40" name="Oval 39"/>
          <p:cNvSpPr/>
          <p:nvPr/>
        </p:nvSpPr>
        <p:spPr>
          <a:xfrm>
            <a:off x="6583680" y="3099816"/>
            <a:ext cx="320040" cy="320040"/>
          </a:xfrm>
          <a:prstGeom prst="ellipse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01968" y="309067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86600" y="3054096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Segoe UI"/>
              </a:defRPr>
            </a:pPr>
            <a:r>
              <a:t>Advanced Features</a:t>
            </a:r>
          </a:p>
        </p:txBody>
      </p:sp>
      <p:sp>
        <p:nvSpPr>
          <p:cNvPr id="43" name="Oval 42"/>
          <p:cNvSpPr/>
          <p:nvPr/>
        </p:nvSpPr>
        <p:spPr>
          <a:xfrm>
            <a:off x="6583680" y="3630168"/>
            <a:ext cx="320040" cy="320040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01968" y="3621024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86600" y="358444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Segoe UI"/>
              </a:defRPr>
            </a:pPr>
            <a:r>
              <a:t>Security Analysis &amp; Threat Model</a:t>
            </a:r>
          </a:p>
        </p:txBody>
      </p:sp>
      <p:sp>
        <p:nvSpPr>
          <p:cNvPr id="46" name="Oval 45"/>
          <p:cNvSpPr/>
          <p:nvPr/>
        </p:nvSpPr>
        <p:spPr>
          <a:xfrm>
            <a:off x="6583680" y="4160520"/>
            <a:ext cx="320040" cy="32004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01968" y="415137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86600" y="4114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Segoe UI"/>
              </a:defRPr>
            </a:pPr>
            <a:r>
              <a:t>Performance Benchmarks</a:t>
            </a:r>
          </a:p>
        </p:txBody>
      </p:sp>
      <p:sp>
        <p:nvSpPr>
          <p:cNvPr id="49" name="Oval 48"/>
          <p:cNvSpPr/>
          <p:nvPr/>
        </p:nvSpPr>
        <p:spPr>
          <a:xfrm>
            <a:off x="6583680" y="4690872"/>
            <a:ext cx="320040" cy="320040"/>
          </a:xfrm>
          <a:prstGeom prst="ellipse">
            <a:avLst/>
          </a:prstGeom>
          <a:solidFill>
            <a:srgbClr val="008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01968" y="468172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86600" y="464515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Segoe UI"/>
              </a:defRPr>
            </a:pPr>
            <a:r>
              <a:t>Comparison with Existing Systems</a:t>
            </a:r>
          </a:p>
        </p:txBody>
      </p:sp>
      <p:sp>
        <p:nvSpPr>
          <p:cNvPr id="52" name="Oval 51"/>
          <p:cNvSpPr/>
          <p:nvPr/>
        </p:nvSpPr>
        <p:spPr>
          <a:xfrm>
            <a:off x="6583680" y="5221224"/>
            <a:ext cx="320040" cy="320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01968" y="52120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86600" y="5175504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Segoe UI"/>
              </a:defRPr>
            </a:pPr>
            <a:r>
              <a:t>Conclusion &amp; Future Work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E9E9E"/>
                </a:solidFill>
                <a:latin typeface="Segoe UI"/>
              </a:defRPr>
            </a:pPr>
            <a:r>
              <a:t>2/18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73152" cy="4572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01  Problem Statement &amp; 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54864" cy="36576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2A5F5"/>
                </a:solidFill>
                <a:latin typeface="Segoe UI"/>
              </a:defRPr>
            </a:pPr>
            <a:r>
              <a:t>Quantum Computing Threat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Segoe UI"/>
              </a:defRPr>
            </a:pPr>
            <a:r>
              <a:t>Current messaging apps (Signal, WhatsApp) use classical Diffie-Hellman.</a:t>
            </a:r>
            <a:br/>
            <a:r>
              <a:t>Shor's algorithm will break these in the post-quantum era.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651760"/>
            <a:ext cx="54864" cy="36576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2A5F5"/>
                </a:solidFill>
                <a:latin typeface="Segoe UI"/>
              </a:defRPr>
            </a:pPr>
            <a:r>
              <a:t>Centralized Key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9260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Segoe UI"/>
              </a:defRPr>
            </a:pPr>
            <a:r>
              <a:t>Most platforms store encryption keys server-side,</a:t>
            </a:r>
            <a:br/>
            <a:r>
              <a:t>creating single points of compromise.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886200"/>
            <a:ext cx="54864" cy="36576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840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2A5F5"/>
                </a:solidFill>
                <a:latin typeface="Segoe UI"/>
              </a:defRPr>
            </a:pPr>
            <a:r>
              <a:t>No Post-Quantum Hybrid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1605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Segoe UI"/>
              </a:defRPr>
            </a:pPr>
            <a:r>
              <a:t>Pure post-quantum schemes are unproven at scale.</a:t>
            </a:r>
            <a:br/>
            <a:r>
              <a:t>A hybrid classical + PQ approach provides defense-in-depth.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120640"/>
            <a:ext cx="54864" cy="36576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5074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2A5F5"/>
                </a:solidFill>
                <a:latin typeface="Segoe UI"/>
              </a:defRPr>
            </a:pPr>
            <a:r>
              <a:t>Browser-Based Crypto Limitations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3949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Segoe UI"/>
              </a:defRPr>
            </a:pPr>
            <a:r>
              <a:t>Running cryptographic operations in WebAssembly</a:t>
            </a:r>
            <a:br/>
            <a:r>
              <a:t>with secure client-side key storage is challenging.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1371600"/>
            <a:ext cx="5029200" cy="4572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5D366"/>
                </a:solidFill>
                <a:latin typeface="Segoe UI"/>
              </a:defRPr>
            </a:pPr>
            <a:r>
              <a:t>Our Solution: ToledoMessage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Segoe UI"/>
              </a:defRPr>
            </a:pPr>
            <a:r>
              <a:t>✓  Hybrid X3DH: X25519 + ML-KEM-768 key agreement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46887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Segoe UI"/>
              </a:defRPr>
            </a:pPr>
            <a:r>
              <a:t>✓  Double Ratchet: forward secrecy per message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8346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Segoe UI"/>
              </a:defRPr>
            </a:pPr>
            <a:r>
              <a:t>✓  AES-256-GCM: authenticated encryption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3200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Segoe UI"/>
              </a:defRPr>
            </a:pPr>
            <a:r>
              <a:t>✓  Ed25519 + ML-DSA-65: hybrid digital signatures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566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Segoe UI"/>
              </a:defRPr>
            </a:pPr>
            <a:r>
              <a:t>✓  Zero-knowledge server: keys never leave the client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3931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Segoe UI"/>
              </a:defRPr>
            </a:pPr>
            <a:r>
              <a:t>✓  Blazor WASM: full crypto in browser sandbox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4297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Segoe UI"/>
              </a:defRPr>
            </a:pPr>
            <a:r>
              <a:t>✓  Real-time via SignalR WebSockets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Segoe UI"/>
              </a:defRPr>
            </a:pPr>
            <a:r>
              <a:t>✓  Multi-device support with per-device keys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Segoe UI"/>
              </a:defRPr>
            </a:pPr>
            <a:r>
              <a:t>✓  Safety number verification (Signal-style)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5394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Segoe UI"/>
              </a:defRPr>
            </a:pPr>
            <a:r>
              <a:t>✓  Disappearing messages with server-side enforcement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E9E9E"/>
                </a:solidFill>
                <a:latin typeface="Segoe UI"/>
              </a:defRPr>
            </a:pPr>
            <a:r>
              <a:t>3/18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73152" cy="4572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02  System Architecture Overview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60120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E9E9E"/>
                </a:solidFill>
                <a:latin typeface="Segoe UI"/>
              </a:defRPr>
            </a:pPr>
            <a:r>
              <a:t>4/18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73152" cy="4572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03  Hybrid X3DH Key Agreement Protocol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332720" cy="5669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E9E9E"/>
                </a:solidFill>
                <a:latin typeface="Segoe UI"/>
              </a:defRPr>
            </a:pPr>
            <a:r>
              <a:t>5/18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73152" cy="4572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04  Double Ratchet Protocol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332720" cy="5669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E9E9E"/>
                </a:solidFill>
                <a:latin typeface="Segoe UI"/>
              </a:defRPr>
            </a:pPr>
            <a:r>
              <a:t>6/18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73152" cy="4572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05  Post-Quantum Resistance: ML-KEM-768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6583680" cy="10972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353312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4DFF"/>
                </a:solidFill>
                <a:latin typeface="Segoe UI"/>
              </a:defRPr>
            </a:pPr>
            <a:r>
              <a:t>What is ML-KEM-768?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6217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Segoe UI"/>
              </a:defRPr>
            </a:pPr>
            <a:r>
              <a:t>NIST-standardized post-quantum Key Encapsulation Mechanism</a:t>
            </a:r>
            <a:br/>
            <a:r>
              <a:t>(formerly CRYSTALS-Kyber). Based on Module-LWE problem.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560320"/>
            <a:ext cx="6583680" cy="10972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633472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976D2"/>
                </a:solidFill>
                <a:latin typeface="Segoe UI"/>
              </a:defRPr>
            </a:pPr>
            <a:r>
              <a:t>Why Hybrid?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926080"/>
            <a:ext cx="6217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Segoe UI"/>
              </a:defRPr>
            </a:pPr>
            <a:r>
              <a:t>Classical X25519 provides proven security today.</a:t>
            </a:r>
            <a:br/>
            <a:r>
              <a:t>ML-KEM-768 adds quantum resistance.</a:t>
            </a:r>
            <a:br/>
            <a:r>
              <a:t>Compromising BOTH is required to break the system.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840479"/>
            <a:ext cx="6583680" cy="10972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25D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913631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D366"/>
                </a:solidFill>
                <a:latin typeface="Segoe UI"/>
              </a:defRPr>
            </a:pPr>
            <a:r>
              <a:t>Key Sizes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206239"/>
            <a:ext cx="6217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Segoe UI"/>
              </a:defRPr>
            </a:pPr>
            <a:r>
              <a:t>Public Key: 1,184 bytes  |  Ciphertext: 1,088 bytes</a:t>
            </a:r>
            <a:br/>
            <a:r>
              <a:t>Shared Secret: 32 bytes  |  Security Level: NIST Level 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120640"/>
            <a:ext cx="6583680" cy="10972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193792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800"/>
                </a:solidFill>
                <a:latin typeface="Segoe UI"/>
              </a:defRPr>
            </a:pPr>
            <a:r>
              <a:t>Integration 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486400"/>
            <a:ext cx="6217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Segoe UI"/>
              </a:defRPr>
            </a:pPr>
            <a:r>
              <a:t>During X3DH: Alice encapsulates against Bob's Kyber pre-key.</a:t>
            </a:r>
            <a:br/>
            <a:r>
              <a:t>The KEM shared secret is mixed into the HKDF derivation</a:t>
            </a:r>
            <a:br/>
            <a:r>
              <a:t>alongside the X25519 DH outputs.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371600"/>
            <a:ext cx="4114800" cy="36576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E9E9E"/>
                </a:solidFill>
                <a:latin typeface="Segoe UI"/>
              </a:defRPr>
            </a:pPr>
            <a:r>
              <a:t>7/18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73152" cy="4572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06  Hybrid Signature Scheme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9800"/>
                </a:solidFill>
                <a:latin typeface="Segoe UI"/>
              </a:defRPr>
            </a:pPr>
            <a:r>
              <a:t>Ed25519 (Classical)  +  ML-DSA-65 (Post-Quantum, formerly Dilithium)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10332720" cy="5303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E9E9E"/>
                </a:solidFill>
                <a:latin typeface="Segoe UI"/>
              </a:defRPr>
            </a:pPr>
            <a:r>
              <a:t>8/18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73152" cy="4572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07  Message Encryption: AES-256-GCM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234440"/>
            <a:ext cx="365760" cy="36576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1887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976D2"/>
                </a:solidFill>
                <a:latin typeface="Segoe UI"/>
              </a:defRPr>
            </a:pPr>
            <a:r>
              <a:t>Derive Message Key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50876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Segoe UI"/>
              </a:defRPr>
            </a:pPr>
            <a:r>
              <a:t>Double Ratchet produces a unique 32-byte</a:t>
            </a:r>
            <a:br/>
            <a:r>
              <a:t>message key (MK) for each message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240280"/>
            <a:ext cx="365760" cy="365760"/>
          </a:xfrm>
          <a:prstGeom prst="ellipse">
            <a:avLst/>
          </a:prstGeom>
          <a:solidFill>
            <a:srgbClr val="008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1945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8069"/>
                </a:solidFill>
                <a:latin typeface="Segoe UI"/>
              </a:defRPr>
            </a:pPr>
            <a:r>
              <a:t>Generate Nonce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51460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Segoe UI"/>
              </a:defRPr>
            </a:pPr>
            <a:r>
              <a:t>12-byte random nonce (IV) generated via</a:t>
            </a:r>
            <a:br/>
            <a:r>
              <a:t>SecureRandom for each encryption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246120"/>
            <a:ext cx="365760" cy="365760"/>
          </a:xfrm>
          <a:prstGeom prst="ellipse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200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D366"/>
                </a:solidFill>
                <a:latin typeface="Segoe UI"/>
              </a:defRPr>
            </a:pPr>
            <a:r>
              <a:t>Encrypt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52044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Segoe UI"/>
              </a:defRPr>
            </a:pPr>
            <a:r>
              <a:t>AES-256-GCM(key=MK, nonce=IV, plaintext)</a:t>
            </a:r>
            <a:br/>
            <a:r>
              <a:t>Produces ciphertext + 16-byte auth tag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251960"/>
            <a:ext cx="365760" cy="36576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2062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800"/>
                </a:solidFill>
                <a:latin typeface="Segoe UI"/>
              </a:defRPr>
            </a:pPr>
            <a:r>
              <a:t>Package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52628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Segoe UI"/>
              </a:defRPr>
            </a:pPr>
            <a:r>
              <a:t>Output = nonce(12) || ciphertext || tag(16)</a:t>
            </a:r>
            <a:br/>
            <a:r>
              <a:t>Base64-encoded for transport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5257800"/>
            <a:ext cx="365760" cy="365760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52120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53935"/>
                </a:solidFill>
                <a:latin typeface="Segoe UI"/>
              </a:defRPr>
            </a:pPr>
            <a:r>
              <a:t>Delete Key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553212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Segoe UI"/>
              </a:defRPr>
            </a:pPr>
            <a:r>
              <a:t>Message key is immediately discarded</a:t>
            </a:r>
            <a:br/>
            <a:r>
              <a:t>after use — never reused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188720"/>
            <a:ext cx="5303520" cy="50292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3258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2A5F5"/>
                </a:solidFill>
                <a:latin typeface="Segoe UI"/>
              </a:defRPr>
            </a:pPr>
            <a:r>
              <a:t>Wire Format (AeadCipher class)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1737360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9800"/>
                </a:solidFill>
                <a:latin typeface="Consolas"/>
              </a:defRPr>
            </a:pPr>
            <a:r>
              <a:t>Encryption: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1975104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  <a:latin typeface="Consolas"/>
              </a:defRPr>
            </a:pPr>
            <a:r>
              <a:t>  plaintext bytes → UTF-8 encoded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212848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  <a:latin typeface="Consolas"/>
              </a:defRPr>
            </a:pPr>
            <a:r>
              <a:t>  nonce = SecureRandom(12 bytes)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450591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  <a:latin typeface="Consolas"/>
              </a:defRPr>
            </a:pPr>
            <a:r>
              <a:t>  (ciphertext, tag) = AES-GCM(key, nonce, plaintext)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688336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  <a:latin typeface="Consolas"/>
              </a:defRPr>
            </a:pPr>
            <a:r>
              <a:t>  output = nonce || ciphertext || tag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2926080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  <a:latin typeface="Consolas"/>
              </a:defRPr>
            </a:pPr>
            <a:r>
              <a:t>  return Base64Encode(output)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163824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  <a:latin typeface="Consolas"/>
              </a:defRPr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6492240" y="3401568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9800"/>
                </a:solidFill>
                <a:latin typeface="Consolas"/>
              </a:defRPr>
            </a:pPr>
            <a:r>
              <a:t>Decryption: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639312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  <a:latin typeface="Consolas"/>
              </a:defRPr>
            </a:pPr>
            <a:r>
              <a:t>  data = Base64Decode(input)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3877056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  <a:latin typeface="Consolas"/>
              </a:defRPr>
            </a:pPr>
            <a:r>
              <a:t>  nonce = data[0:12]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4114800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  <a:latin typeface="Consolas"/>
              </a:defRPr>
            </a:pPr>
            <a:r>
              <a:t>  ciphertext = data[12 : len-16]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352544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  <a:latin typeface="Consolas"/>
              </a:defRPr>
            </a:pPr>
            <a:r>
              <a:t>  tag = data[len-16 : len]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590288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  <a:latin typeface="Consolas"/>
              </a:defRPr>
            </a:pPr>
            <a:r>
              <a:t>  plaintext = AES-GCM-Decrypt(key, nonce, ct, tag)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4828031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  <a:latin typeface="Consolas"/>
              </a:defRPr>
            </a:pPr>
          </a:p>
        </p:txBody>
      </p:sp>
      <p:sp>
        <p:nvSpPr>
          <p:cNvPr id="35" name="TextBox 34"/>
          <p:cNvSpPr txBox="1"/>
          <p:nvPr/>
        </p:nvSpPr>
        <p:spPr>
          <a:xfrm>
            <a:off x="6492240" y="5065776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9800"/>
                </a:solidFill>
                <a:latin typeface="Consolas"/>
              </a:defRPr>
            </a:pPr>
            <a:r>
              <a:t>Key Properties: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5303520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5D366"/>
                </a:solidFill>
                <a:latin typeface="Consolas"/>
              </a:defRPr>
            </a:pPr>
            <a:r>
              <a:t>  • 256-bit key (from Double Ratchet MK)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5541264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5D366"/>
                </a:solidFill>
                <a:latin typeface="Consolas"/>
              </a:defRPr>
            </a:pPr>
            <a:r>
              <a:t>  • 96-bit nonce (random per message)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5779008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5D366"/>
                </a:solidFill>
                <a:latin typeface="Consolas"/>
              </a:defRPr>
            </a:pPr>
            <a:r>
              <a:t>  • 128-bit authentication tag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6016752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5D366"/>
                </a:solidFill>
                <a:latin typeface="Consolas"/>
              </a:defRPr>
            </a:pPr>
            <a:r>
              <a:t>  • Authenticated Associated Data supported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E9E9E"/>
                </a:solidFill>
                <a:latin typeface="Segoe UI"/>
              </a:defRPr>
            </a:pPr>
            <a:r>
              <a:t>9/18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73152" cy="4572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08  End-to-End Message Flow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731520"/>
            <a:ext cx="10332720" cy="5943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E9E9E"/>
                </a:solidFill>
                <a:latin typeface="Segoe UI"/>
              </a:defRPr>
            </a:pPr>
            <a:r>
              <a:t>10/18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73152" cy="4572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09  Real-Time Communication: SignalR Hub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54864" cy="32004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1887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76D2"/>
                </a:solidFill>
                <a:latin typeface="Consolas"/>
              </a:defRPr>
            </a:pPr>
            <a:r>
              <a:t>RegisterDevice()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118872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Segoe UI"/>
              </a:defRPr>
            </a:pPr>
            <a:r>
              <a:t>Maps deviceId → SignalR connectionId</a:t>
            </a:r>
            <a:br/>
            <a:r>
              <a:t>for targeted message delivery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984248"/>
            <a:ext cx="54864" cy="320040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3852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D366"/>
                </a:solidFill>
                <a:latin typeface="Consolas"/>
              </a:defRPr>
            </a:pPr>
            <a:r>
              <a:t>SendMessage()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1938528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Segoe UI"/>
              </a:defRPr>
            </a:pPr>
            <a:r>
              <a:t>Receives encrypted envelope, stores in DB,</a:t>
            </a:r>
            <a:br/>
            <a:r>
              <a:t>routes to recipient's connected devices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734056"/>
            <a:ext cx="54864" cy="320040"/>
          </a:xfrm>
          <a:prstGeom prst="rect">
            <a:avLst/>
          </a:prstGeom>
          <a:solidFill>
            <a:srgbClr val="008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68833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8069"/>
                </a:solidFill>
                <a:latin typeface="Consolas"/>
              </a:defRPr>
            </a:pPr>
            <a:r>
              <a:t>AcknowledgeDelivery()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688336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Segoe UI"/>
              </a:defRPr>
            </a:pPr>
            <a:r>
              <a:t>Updates message status to Delivered,</a:t>
            </a:r>
            <a:br/>
            <a:r>
              <a:t>notifies sender in real-time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483864"/>
            <a:ext cx="54864" cy="32004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43814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4DFF"/>
                </a:solidFill>
                <a:latin typeface="Consolas"/>
              </a:defRPr>
            </a:pPr>
            <a:r>
              <a:t>AcknowledgeRead()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3438144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Segoe UI"/>
              </a:defRPr>
            </a:pPr>
            <a:r>
              <a:t>Updates message status to Read,</a:t>
            </a:r>
            <a:br/>
            <a:r>
              <a:t>blue-tick confirmation to sender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233672"/>
            <a:ext cx="54864" cy="32004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18795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800"/>
                </a:solidFill>
                <a:latin typeface="Consolas"/>
              </a:defRPr>
            </a:pPr>
            <a:r>
              <a:t>SendTypingIndicator()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4187952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Segoe UI"/>
              </a:defRPr>
            </a:pPr>
            <a:r>
              <a:t>Broadcasts typing status to</a:t>
            </a:r>
            <a:br/>
            <a:r>
              <a:t>conversation participants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983479"/>
            <a:ext cx="54864" cy="32004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937759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2A5F5"/>
                </a:solidFill>
                <a:latin typeface="Consolas"/>
              </a:defRPr>
            </a:pPr>
            <a:r>
              <a:t>AddParticipant()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4937759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Segoe UI"/>
              </a:defRPr>
            </a:pPr>
            <a:r>
              <a:t>Admin adds user to group conversation,</a:t>
            </a:r>
            <a:br/>
            <a:r>
              <a:t>broadcasts update to all members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733288"/>
            <a:ext cx="54864" cy="32004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68756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53935"/>
                </a:solidFill>
                <a:latin typeface="Consolas"/>
              </a:defRPr>
            </a:pPr>
            <a:r>
              <a:t>RemoveParticipant()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5687568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Segoe UI"/>
              </a:defRPr>
            </a:pPr>
            <a:r>
              <a:t>Admin removes user from group,</a:t>
            </a:r>
            <a:br/>
            <a:r>
              <a:t>cleans up participant records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1188720"/>
            <a:ext cx="3474720" cy="50292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8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1325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8069"/>
                </a:solidFill>
                <a:latin typeface="Segoe UI"/>
              </a:defRPr>
            </a:pPr>
            <a:r>
              <a:t>Message Lifecycle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1828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E9E9E"/>
                </a:solidFill>
                <a:latin typeface="Segoe UI"/>
              </a:defRPr>
            </a:pPr>
            <a:r>
              <a:t>⏳ Sending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2194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E9E9E"/>
                </a:solidFill>
                <a:latin typeface="Segoe UI"/>
              </a:defRPr>
            </a:pPr>
            <a:r>
              <a:t>Client encrypts &amp; sends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2560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8069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28346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E0E0"/>
                </a:solidFill>
                <a:latin typeface="Segoe UI"/>
              </a:defRPr>
            </a:pPr>
            <a:r>
              <a:t>✓ Sent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E9E9E"/>
                </a:solidFill>
                <a:latin typeface="Segoe UI"/>
              </a:defRPr>
            </a:pPr>
            <a:r>
              <a:t>Server received &amp; stored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35661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8069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3840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2A5F5"/>
                </a:solidFill>
                <a:latin typeface="Segoe UI"/>
              </a:defRPr>
            </a:pPr>
            <a:r>
              <a:t>✓✓ Delivered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4206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E9E9E"/>
                </a:solidFill>
                <a:latin typeface="Segoe UI"/>
              </a:defRPr>
            </a:pPr>
            <a:r>
              <a:t>Recipient device received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0" y="45720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8069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48463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D366"/>
                </a:solidFill>
                <a:latin typeface="Segoe UI"/>
              </a:defRPr>
            </a:pPr>
            <a:r>
              <a:t>✓✓ Read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0" y="5212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E9E9E"/>
                </a:solidFill>
                <a:latin typeface="Segoe UI"/>
              </a:defRPr>
            </a:pPr>
            <a:r>
              <a:t>Recipient opened message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E9E9E"/>
                </a:solidFill>
                <a:latin typeface="Segoe UI"/>
              </a:defRPr>
            </a:pPr>
            <a:r>
              <a:t>11/18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73152" cy="4572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10  Client-Side Security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11064240" cy="658368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4358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976D2"/>
                </a:solidFill>
                <a:latin typeface="Consolas"/>
              </a:defRPr>
            </a:pPr>
            <a:r>
              <a:t>LocalStorageService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243584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Segoe UI"/>
              </a:defRPr>
            </a:pPr>
            <a:r>
              <a:t>Encrypted IndexedDB storage via JS Interop.</a:t>
            </a:r>
            <a:br/>
            <a:r>
              <a:t>Binary key-value with optional encryption-at-rest.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56816"/>
            <a:ext cx="11064240" cy="658368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25D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D366"/>
                </a:solidFill>
                <a:latin typeface="Consolas"/>
              </a:defRPr>
            </a:pPr>
            <a:r>
              <a:t>KeyGenerationService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011680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Segoe UI"/>
              </a:defRPr>
            </a:pPr>
            <a:r>
              <a:t>Generates identity keys (Ed25519 + ML-DSA-65),</a:t>
            </a:r>
            <a:br/>
            <a:r>
              <a:t>signed pre-keys, Kyber pre-keys, one-time pre-keys.</a:t>
            </a:r>
            <a:br/>
            <a:r>
              <a:t>Batches of 10 pre-keys per registration.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24912"/>
            <a:ext cx="11064240" cy="658368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8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69"/>
                </a:solidFill>
                <a:latin typeface="Consolas"/>
              </a:defRPr>
            </a:pPr>
            <a:r>
              <a:t>SessionService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779776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Segoe UI"/>
              </a:defRPr>
            </a:pPr>
            <a:r>
              <a:t>Manages Double Ratchet session state per peer.</a:t>
            </a:r>
            <a:br/>
            <a:r>
              <a:t>Tracks root keys, chain keys, message counters.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493008"/>
            <a:ext cx="11064240" cy="658368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5478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C4DFF"/>
                </a:solidFill>
                <a:latin typeface="Consolas"/>
              </a:defRPr>
            </a:pPr>
            <a:r>
              <a:t>CryptoService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547872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Segoe UI"/>
              </a:defRPr>
            </a:pPr>
            <a:r>
              <a:t>Orchestrates encryption/decryption.</a:t>
            </a:r>
            <a:br/>
            <a:r>
              <a:t>Handles X3DH initiation and session establishment.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261104"/>
            <a:ext cx="11064240" cy="658368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3159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800"/>
                </a:solidFill>
                <a:latin typeface="Consolas"/>
              </a:defRPr>
            </a:pPr>
            <a:r>
              <a:t>MessageEncryptionService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4315968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Segoe UI"/>
              </a:defRPr>
            </a:pPr>
            <a:r>
              <a:t>Encrypts for all of recipient's devices.</a:t>
            </a:r>
            <a:br/>
            <a:r>
              <a:t>Each device gets a unique ciphertext.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029200"/>
            <a:ext cx="11064240" cy="658368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08406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2A5F5"/>
                </a:solidFill>
                <a:latin typeface="Consolas"/>
              </a:defRPr>
            </a:pPr>
            <a:r>
              <a:t>FingerprintService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5084064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Segoe UI"/>
              </a:defRPr>
            </a:pPr>
            <a:r>
              <a:t>Computes safety numbers from identity keys.</a:t>
            </a:r>
            <a:br/>
            <a:r>
              <a:t>Enables out-of-band verification.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797296"/>
            <a:ext cx="11064240" cy="658368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8521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53935"/>
                </a:solidFill>
                <a:latin typeface="Consolas"/>
              </a:defRPr>
            </a:pPr>
            <a:r>
              <a:t>PreKeyReplenishmentService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5852160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Segoe UI"/>
              </a:defRPr>
            </a:pPr>
            <a:r>
              <a:t>Monitors pre-key count on server.</a:t>
            </a:r>
            <a:br/>
            <a:r>
              <a:t>Auto-generates new batches when depleted.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E9E9E"/>
                </a:solidFill>
                <a:latin typeface="Segoe UI"/>
              </a:defRPr>
            </a:pPr>
            <a:r>
              <a:t>12/18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73152" cy="4572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11  Database &amp; Entity Model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0332720" cy="5669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E9E9E"/>
                </a:solidFill>
                <a:latin typeface="Segoe UI"/>
              </a:defRPr>
            </a:pPr>
            <a:r>
              <a:t>13/18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73152" cy="4572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12  Safety Number Verification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54864" cy="36576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1887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976D2"/>
                </a:solidFill>
                <a:latin typeface="Segoe UI"/>
              </a:defRPr>
            </a:pPr>
            <a:r>
              <a:t>1. Collect Identity Keys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Segoe UI"/>
              </a:defRPr>
            </a:pPr>
            <a:r>
              <a:t>Gather both parties' Ed25519 + ML-DSA-65</a:t>
            </a:r>
            <a:br/>
            <a:r>
              <a:t>public identity keys from local storage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286000"/>
            <a:ext cx="54864" cy="365760"/>
          </a:xfrm>
          <a:prstGeom prst="rect">
            <a:avLst/>
          </a:prstGeom>
          <a:solidFill>
            <a:srgbClr val="008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8069"/>
                </a:solidFill>
                <a:latin typeface="Segoe UI"/>
              </a:defRPr>
            </a:pPr>
            <a:r>
              <a:t>2. SHA-256 Hash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603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Segoe UI"/>
              </a:defRPr>
            </a:pPr>
            <a:r>
              <a:t>Concatenate and hash: SHA256(localKey || remoteKey)</a:t>
            </a:r>
            <a:br/>
            <a:r>
              <a:t>Produces 32-byte fingerprint digest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337559"/>
            <a:ext cx="54864" cy="365760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29183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5D366"/>
                </a:solidFill>
                <a:latin typeface="Segoe UI"/>
              </a:defRPr>
            </a:pPr>
            <a:r>
              <a:t>3. Numeric Encoding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11879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Segoe UI"/>
              </a:defRPr>
            </a:pPr>
            <a:r>
              <a:t>Convert hash to human-readable numeric groups</a:t>
            </a:r>
            <a:br/>
            <a:r>
              <a:t>(e.g., "37291 04823 19457 ...")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389120"/>
            <a:ext cx="54864" cy="3657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3434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800"/>
                </a:solidFill>
                <a:latin typeface="Segoe UI"/>
              </a:defRPr>
            </a:pPr>
            <a:r>
              <a:t>4. Compare Out-of-Band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66344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Segoe UI"/>
              </a:defRPr>
            </a:pPr>
            <a:r>
              <a:t>Users compare numbers in person or via</a:t>
            </a:r>
            <a:br/>
            <a:r>
              <a:t>trusted channel (phone call, video chat)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440679"/>
            <a:ext cx="54864" cy="36576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39495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C4DFF"/>
                </a:solidFill>
                <a:latin typeface="Segoe UI"/>
              </a:defRPr>
            </a:pPr>
            <a:r>
              <a:t>5. Mark Verified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714999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Segoe UI"/>
              </a:defRPr>
            </a:pPr>
            <a:r>
              <a:t>Store verification flag per conversation</a:t>
            </a:r>
            <a:br/>
            <a:r>
              <a:t>in IndexedDB. Show green verified badge.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0" y="1188720"/>
            <a:ext cx="4754880" cy="50292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25D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0" y="13716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D366"/>
                </a:solidFill>
                <a:latin typeface="Segoe UI"/>
              </a:defRPr>
            </a:pPr>
            <a:r>
              <a:t>Safety Number Display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23760" y="1920240"/>
            <a:ext cx="4206240" cy="2286000"/>
          </a:xfrm>
          <a:prstGeom prst="roundRect">
            <a:avLst/>
          </a:prstGeom>
          <a:solidFill>
            <a:srgbClr val="202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0" y="20116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E9E9E"/>
                </a:solidFill>
                <a:latin typeface="Segoe UI"/>
              </a:defRPr>
            </a:pPr>
            <a:r>
              <a:t>Safety Number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2377440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onsolas"/>
              </a:defRPr>
            </a:pPr>
            <a:r>
              <a:t>37291 04823</a:t>
            </a:r>
            <a:br/>
            <a:r>
              <a:t>19457 82634</a:t>
            </a:r>
            <a:br/>
            <a:r>
              <a:t>50918 73246</a:t>
            </a:r>
            <a:br/>
            <a:r>
              <a:t>61582 39047</a:t>
            </a:r>
            <a:br/>
            <a:r>
              <a:t>84619 25703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4572000"/>
            <a:ext cx="2377440" cy="4572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✓  Verified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521208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9800"/>
                </a:solidFill>
                <a:latin typeface="Segoe UI"/>
              </a:defRPr>
            </a:pPr>
            <a:r>
              <a:t>Key Change Warning:</a:t>
            </a:r>
            <a:br/>
            <a:r>
              <a:t>If identity keys change, safety number changes</a:t>
            </a:r>
            <a:br/>
            <a:r>
              <a:t>and users are alerted to re-verify.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E9E9E"/>
                </a:solidFill>
                <a:latin typeface="Segoe UI"/>
              </a:defRPr>
            </a:pPr>
            <a:r>
              <a:t>14/18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73152" cy="4572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13  Advanced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5303520" cy="15544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976D2"/>
                </a:solidFill>
                <a:latin typeface="Segoe UI"/>
              </a:defRPr>
            </a:pPr>
            <a:r>
              <a:t>📱  Multi-Device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Segoe UI"/>
              </a:defRPr>
            </a:pPr>
            <a:r>
              <a:t>Each device has independent identity &amp; pre-keys.</a:t>
            </a:r>
            <a:br/>
            <a:r>
              <a:t>Messages encrypted separately per device.</a:t>
            </a:r>
            <a:br/>
            <a:r>
              <a:t>Server routes to all active devices.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188720"/>
            <a:ext cx="5303520" cy="15544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25D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2801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5D366"/>
                </a:solidFill>
                <a:latin typeface="Segoe UI"/>
              </a:defRPr>
            </a:pPr>
            <a:r>
              <a:t>⏰  Disappearing Messages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64592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Segoe UI"/>
              </a:defRPr>
            </a:pPr>
            <a:r>
              <a:t>Configurable timer: 5min, 1h, 24h, 7 days.</a:t>
            </a:r>
            <a:br/>
            <a:r>
              <a:t>Server-side enforcement with MessageExpiryService.</a:t>
            </a:r>
            <a:br/>
            <a:r>
              <a:t>Automatic cleanup after expiration.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926080"/>
            <a:ext cx="5303520" cy="15544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0175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C4DFF"/>
                </a:solidFill>
                <a:latin typeface="Segoe UI"/>
              </a:defRPr>
            </a:pPr>
            <a:r>
              <a:t>👥  Group Messaging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8328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Segoe UI"/>
              </a:defRPr>
            </a:pPr>
            <a:r>
              <a:t>Fan-out encryption: sender encrypts for</a:t>
            </a:r>
            <a:br/>
            <a:r>
              <a:t>each participant's devices individually.</a:t>
            </a:r>
            <a:br/>
            <a:r>
              <a:t>Admin role for participant management.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926080"/>
            <a:ext cx="5303520" cy="15544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0175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800"/>
                </a:solidFill>
                <a:latin typeface="Segoe UI"/>
              </a:defRPr>
            </a:pPr>
            <a:r>
              <a:t>🔄  Pre-Key Replenishment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38328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Segoe UI"/>
              </a:defRPr>
            </a:pPr>
            <a:r>
              <a:t>Auto-detects when one-time pre-keys run low.</a:t>
            </a:r>
            <a:br/>
            <a:r>
              <a:t>Generates and uploads fresh batches of 10.</a:t>
            </a:r>
            <a:br/>
            <a:r>
              <a:t>Ensures X3DH sessions always available.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663440"/>
            <a:ext cx="5303520" cy="15544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8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7548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8069"/>
                </a:solidFill>
                <a:latin typeface="Segoe UI"/>
              </a:defRPr>
            </a:pPr>
            <a:r>
              <a:t>🎨  Responsive UI + Themes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12064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Segoe UI"/>
              </a:defRPr>
            </a:pPr>
            <a:r>
              <a:t>7 messenger-inspired themes (WhatsApp, Telegram, Signal).</a:t>
            </a:r>
            <a:br/>
            <a:r>
              <a:t>CSS custom properties + data-theme selectors.</a:t>
            </a:r>
            <a:br/>
            <a:r>
              <a:t>Mobile-first responsive with hamburger nav.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4663440"/>
            <a:ext cx="5303520" cy="15544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47548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2A5F5"/>
                </a:solidFill>
                <a:latin typeface="Segoe UI"/>
              </a:defRPr>
            </a:pPr>
            <a:r>
              <a:t>⌨  Real-Time Typing Indicators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512064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Segoe UI"/>
              </a:defRPr>
            </a:pPr>
            <a:r>
              <a:t>SignalR broadcasts typing status.</a:t>
            </a:r>
            <a:br/>
            <a:r>
              <a:t>Auto-clears after 3-second timeout.</a:t>
            </a:r>
            <a:br/>
            <a:r>
              <a:t>Non-blocking, failure-tolerant.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E9E9E"/>
                </a:solidFill>
                <a:latin typeface="Segoe UI"/>
              </a:defRPr>
            </a:pPr>
            <a:r>
              <a:t>15/18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73152" cy="4572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14  Security Analysis &amp; Threat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11064240" cy="45720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Threat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325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Mitigation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13258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Status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11064240" cy="5029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562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0E0E0"/>
                </a:solidFill>
                <a:latin typeface="Segoe UI"/>
              </a:defRPr>
            </a:pPr>
            <a:r>
              <a:t>Man-in-the-Middle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85623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Segoe UI"/>
              </a:defRPr>
            </a:pPr>
            <a:r>
              <a:t>X3DH mutual authentication + safety numbers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1828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5D366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331720"/>
            <a:ext cx="11064240" cy="502920"/>
          </a:xfrm>
          <a:prstGeom prst="roundRect">
            <a:avLst/>
          </a:prstGeom>
          <a:solidFill>
            <a:srgbClr val="0F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4048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0E0E0"/>
                </a:solidFill>
                <a:latin typeface="Segoe UI"/>
              </a:defRPr>
            </a:pPr>
            <a:r>
              <a:t>Server Compromise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40487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Segoe UI"/>
              </a:defRPr>
            </a:pPr>
            <a:r>
              <a:t>E2EE: server only sees ciphertext, never plaintext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23774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5D366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880360"/>
            <a:ext cx="11064240" cy="5029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95351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0E0E0"/>
                </a:solidFill>
                <a:latin typeface="Segoe UI"/>
              </a:defRPr>
            </a:pPr>
            <a:r>
              <a:t>Key Compromise (past)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95351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Segoe UI"/>
              </a:defRPr>
            </a:pPr>
            <a:r>
              <a:t>Forward secrecy via Double Ratchet DH steps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2926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5D366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429000"/>
            <a:ext cx="11064240" cy="502920"/>
          </a:xfrm>
          <a:prstGeom prst="roundRect">
            <a:avLst/>
          </a:prstGeom>
          <a:solidFill>
            <a:srgbClr val="0F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50215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0E0E0"/>
                </a:solidFill>
                <a:latin typeface="Segoe UI"/>
              </a:defRPr>
            </a:pPr>
            <a:r>
              <a:t>Key Compromise (future)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50215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Segoe UI"/>
              </a:defRPr>
            </a:pPr>
            <a:r>
              <a:t>Break-in recovery: new DH ratchet heals session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34747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5D366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977639"/>
            <a:ext cx="11064240" cy="5029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050791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0E0E0"/>
                </a:solidFill>
                <a:latin typeface="Segoe UI"/>
              </a:defRPr>
            </a:pPr>
            <a:r>
              <a:t>Quantum Computer Attack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050791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Segoe UI"/>
              </a:defRPr>
            </a:pPr>
            <a:r>
              <a:t>ML-KEM-768 + ML-DSA-65 post-quantum primitives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4023359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5D366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526280"/>
            <a:ext cx="11064240" cy="502920"/>
          </a:xfrm>
          <a:prstGeom prst="roundRect">
            <a:avLst/>
          </a:prstGeom>
          <a:solidFill>
            <a:srgbClr val="0F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5994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0E0E0"/>
                </a:solidFill>
                <a:latin typeface="Segoe UI"/>
              </a:defRPr>
            </a:pPr>
            <a:r>
              <a:t>Replay Attack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459943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Segoe UI"/>
              </a:defRPr>
            </a:pPr>
            <a:r>
              <a:t>Unique nonce per message + message counters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45720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5D366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074920"/>
            <a:ext cx="11064240" cy="5029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51480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53935"/>
                </a:solidFill>
                <a:latin typeface="Segoe UI"/>
              </a:defRPr>
            </a:pPr>
            <a:r>
              <a:t>Device Theft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514807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Segoe UI"/>
              </a:defRPr>
            </a:pPr>
            <a:r>
              <a:t>Keys stored in browser IndexedDB, session-bound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51206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9800"/>
                </a:solidFill>
                <a:latin typeface="Segoe UI"/>
              </a:defRPr>
            </a:pPr>
            <a:r>
              <a:t>⚠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623560"/>
            <a:ext cx="11064240" cy="502920"/>
          </a:xfrm>
          <a:prstGeom prst="roundRect">
            <a:avLst/>
          </a:prstGeom>
          <a:solidFill>
            <a:srgbClr val="0F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569671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53935"/>
                </a:solidFill>
                <a:latin typeface="Segoe UI"/>
              </a:defRPr>
            </a:pPr>
            <a:r>
              <a:t>Metadata Leakage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569671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Segoe UI"/>
              </a:defRPr>
            </a:pPr>
            <a:r>
              <a:t>Server sees routing metadata (who talks to whom)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56692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9800"/>
                </a:solidFill>
                <a:latin typeface="Segoe UI"/>
              </a:defRPr>
            </a:pPr>
            <a:r>
              <a:t>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E9E9E"/>
                </a:solidFill>
                <a:latin typeface="Segoe UI"/>
              </a:defRPr>
            </a:pPr>
            <a:r>
              <a:t>16/18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73152" cy="4572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15-16  Performance &amp; Comparison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60120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E9E9E"/>
                </a:solidFill>
                <a:latin typeface="Segoe UI"/>
              </a:defRPr>
            </a:pPr>
            <a:r>
              <a:t>17/18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1A"/>
            </a:gs>
            <a:gs pos="100000">
              <a:srgbClr val="1A1A2E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457200"/>
            <a:ext cx="2743200" cy="274320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17  Conclusion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5D366"/>
                </a:solidFill>
                <a:latin typeface="Segoe UI"/>
              </a:defRPr>
            </a:pPr>
            <a:r>
              <a:t>Key Contributions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Segoe UI"/>
              </a:defRPr>
            </a:pPr>
            <a:r>
              <a:t>✓  First Blazor WASM messenger with hybrid post-quantum E2EE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Segoe UI"/>
              </a:defRPr>
            </a:pPr>
            <a:r>
              <a:t>✓  Novel integration of ML-KEM-768 into X3DH key agreement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Segoe UI"/>
              </a:defRPr>
            </a:pPr>
            <a:r>
              <a:t>✓  Full Double Ratchet with per-message AES-256-GCM keys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Segoe UI"/>
              </a:defRPr>
            </a:pPr>
            <a:r>
              <a:t>✓  Hybrid signature scheme (Ed25519 + ML-DSA-65)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918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Segoe UI"/>
              </a:defRPr>
            </a:pPr>
            <a:r>
              <a:t>✓  Zero-knowledge server architecture — keys never leave client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576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Segoe UI"/>
              </a:defRPr>
            </a:pPr>
            <a:r>
              <a:t>✓  Multi-device E2EE with independent key material per device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233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Segoe UI"/>
              </a:defRPr>
            </a:pPr>
            <a:r>
              <a:t>✓  65 comprehensive unit tests covering all crypto primitives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371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9800"/>
                </a:solidFill>
                <a:latin typeface="Segoe UI"/>
              </a:defRPr>
            </a:pPr>
            <a:r>
              <a:t>Future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18288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Segoe UI"/>
              </a:defRPr>
            </a:pPr>
            <a:r>
              <a:t>▶  Mobile native apps (MAUI / Flutter)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21945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Segoe UI"/>
              </a:defRPr>
            </a:pPr>
            <a:r>
              <a:t>▶  File &amp; media encrypted transfer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25603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Segoe UI"/>
              </a:defRPr>
            </a:pPr>
            <a:r>
              <a:t>▶  Voice/video calls with SRTP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29260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Segoe UI"/>
              </a:defRPr>
            </a:pPr>
            <a:r>
              <a:t>▶  Multi-device sync via Sesame protocol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32918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Segoe UI"/>
              </a:defRPr>
            </a:pPr>
            <a:r>
              <a:t>▶  Formal security proofs (ProVerif/Tamarin)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3657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Segoe UI"/>
              </a:defRPr>
            </a:pPr>
            <a:r>
              <a:t>▶  Hardware security module (HSM) integration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40233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Segoe UI"/>
              </a:defRPr>
            </a:pPr>
            <a:r>
              <a:t>▶  Decentralized architecture (Matrix federation)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28800" y="5029200"/>
            <a:ext cx="8503920" cy="64008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28800" y="50749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Secure today. Quantum-resistant tomorrow.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E9E9E"/>
                </a:solidFill>
                <a:latin typeface="Segoe UI"/>
              </a:defRPr>
            </a:pPr>
            <a:r>
              <a:t>Thank you!  |  Questions?  |  github.com/ToledoMessage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E9E9E"/>
                </a:solidFill>
                <a:latin typeface="Segoe UI"/>
              </a:defRPr>
            </a:pPr>
            <a:r>
              <a:t>18/18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